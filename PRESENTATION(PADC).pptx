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 Bold" charset="1" panose="00000800000000000000"/>
      <p:regular r:id="rId28"/>
    </p:embeddedFont>
    <p:embeddedFont>
      <p:font typeface="Poppins Semi-Bold" charset="1" panose="00000700000000000000"/>
      <p:regular r:id="rId29"/>
    </p:embeddedFont>
    <p:embeddedFont>
      <p:font typeface="Poppins Ultra-Bold" charset="1" panose="00000900000000000000"/>
      <p:regular r:id="rId30"/>
    </p:embeddedFont>
    <p:embeddedFont>
      <p:font typeface="Poppins" charset="1" panose="00000500000000000000"/>
      <p:regular r:id="rId31"/>
    </p:embeddedFont>
    <p:embeddedFont>
      <p:font typeface="Glacial Indifference" charset="1" panose="00000000000000000000"/>
      <p:regular r:id="rId32"/>
    </p:embeddedFont>
    <p:embeddedFont>
      <p:font typeface="Canva Sans Bold" charset="1" panose="020B08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jpeg" Type="http://schemas.openxmlformats.org/officeDocument/2006/relationships/image"/><Relationship Id="rId8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30" y="4021149"/>
            <a:ext cx="17321821" cy="221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7"/>
              </a:lnSpc>
            </a:pPr>
            <a:r>
              <a:rPr lang="en-US" b="true" sz="7098" spc="-2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Title: Serverless Application using AWS Lambda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990796" y="9258300"/>
            <a:ext cx="19278796" cy="1987207"/>
            <a:chOff x="0" y="0"/>
            <a:chExt cx="5077543" cy="523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543" cy="523380"/>
            </a:xfrm>
            <a:custGeom>
              <a:avLst/>
              <a:gdLst/>
              <a:ahLst/>
              <a:cxnLst/>
              <a:rect r="r" b="b" t="t" l="l"/>
              <a:pathLst>
                <a:path h="523380" w="5077543">
                  <a:moveTo>
                    <a:pt x="40158" y="0"/>
                  </a:moveTo>
                  <a:lnTo>
                    <a:pt x="5037385" y="0"/>
                  </a:lnTo>
                  <a:cubicBezTo>
                    <a:pt x="5059564" y="0"/>
                    <a:pt x="5077543" y="17979"/>
                    <a:pt x="5077543" y="40158"/>
                  </a:cubicBezTo>
                  <a:lnTo>
                    <a:pt x="5077543" y="483222"/>
                  </a:lnTo>
                  <a:cubicBezTo>
                    <a:pt x="5077543" y="505400"/>
                    <a:pt x="5059564" y="523380"/>
                    <a:pt x="5037385" y="523380"/>
                  </a:cubicBezTo>
                  <a:lnTo>
                    <a:pt x="40158" y="523380"/>
                  </a:lnTo>
                  <a:cubicBezTo>
                    <a:pt x="17979" y="523380"/>
                    <a:pt x="0" y="505400"/>
                    <a:pt x="0" y="483222"/>
                  </a:cubicBezTo>
                  <a:lnTo>
                    <a:pt x="0" y="40158"/>
                  </a:lnTo>
                  <a:cubicBezTo>
                    <a:pt x="0" y="17979"/>
                    <a:pt x="17979" y="0"/>
                    <a:pt x="401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077543" cy="58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974949" y="2287540"/>
            <a:ext cx="3721264" cy="1867398"/>
          </a:xfrm>
          <a:custGeom>
            <a:avLst/>
            <a:gdLst/>
            <a:ahLst/>
            <a:cxnLst/>
            <a:rect r="r" b="b" t="t" l="l"/>
            <a:pathLst>
              <a:path h="1867398" w="3721264">
                <a:moveTo>
                  <a:pt x="0" y="0"/>
                </a:moveTo>
                <a:lnTo>
                  <a:pt x="3721264" y="0"/>
                </a:lnTo>
                <a:lnTo>
                  <a:pt x="3721264" y="1867398"/>
                </a:lnTo>
                <a:lnTo>
                  <a:pt x="0" y="1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251282" y="6167431"/>
            <a:ext cx="6051521" cy="3828962"/>
          </a:xfrm>
          <a:custGeom>
            <a:avLst/>
            <a:gdLst/>
            <a:ahLst/>
            <a:cxnLst/>
            <a:rect r="r" b="b" t="t" l="l"/>
            <a:pathLst>
              <a:path h="3828962" w="6051521">
                <a:moveTo>
                  <a:pt x="0" y="0"/>
                </a:moveTo>
                <a:lnTo>
                  <a:pt x="6051520" y="0"/>
                </a:lnTo>
                <a:lnTo>
                  <a:pt x="6051520" y="3828962"/>
                </a:lnTo>
                <a:lnTo>
                  <a:pt x="0" y="3828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9487" y="2649986"/>
            <a:ext cx="13104818" cy="82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1"/>
              </a:lnSpc>
              <a:spcBef>
                <a:spcPct val="0"/>
              </a:spcBef>
            </a:pPr>
            <a:r>
              <a:rPr lang="en-US" b="true" sz="4536" spc="56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PARALLEL &amp; DISTRIBUTED COMPUTING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9278796" cy="1987207"/>
            <a:chOff x="0" y="0"/>
            <a:chExt cx="5077543" cy="5233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77543" cy="523380"/>
            </a:xfrm>
            <a:custGeom>
              <a:avLst/>
              <a:gdLst/>
              <a:ahLst/>
              <a:cxnLst/>
              <a:rect r="r" b="b" t="t" l="l"/>
              <a:pathLst>
                <a:path h="523380" w="5077543">
                  <a:moveTo>
                    <a:pt x="40158" y="0"/>
                  </a:moveTo>
                  <a:lnTo>
                    <a:pt x="5037385" y="0"/>
                  </a:lnTo>
                  <a:cubicBezTo>
                    <a:pt x="5059564" y="0"/>
                    <a:pt x="5077543" y="17979"/>
                    <a:pt x="5077543" y="40158"/>
                  </a:cubicBezTo>
                  <a:lnTo>
                    <a:pt x="5077543" y="483222"/>
                  </a:lnTo>
                  <a:cubicBezTo>
                    <a:pt x="5077543" y="505400"/>
                    <a:pt x="5059564" y="523380"/>
                    <a:pt x="5037385" y="523380"/>
                  </a:cubicBezTo>
                  <a:lnTo>
                    <a:pt x="40158" y="523380"/>
                  </a:lnTo>
                  <a:cubicBezTo>
                    <a:pt x="17979" y="523380"/>
                    <a:pt x="0" y="505400"/>
                    <a:pt x="0" y="483222"/>
                  </a:cubicBezTo>
                  <a:lnTo>
                    <a:pt x="0" y="40158"/>
                  </a:lnTo>
                  <a:cubicBezTo>
                    <a:pt x="0" y="17979"/>
                    <a:pt x="17979" y="0"/>
                    <a:pt x="401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077543" cy="58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40676" y="3367517"/>
            <a:ext cx="2952241" cy="2952241"/>
          </a:xfrm>
          <a:custGeom>
            <a:avLst/>
            <a:gdLst/>
            <a:ahLst/>
            <a:cxnLst/>
            <a:rect r="r" b="b" t="t" l="l"/>
            <a:pathLst>
              <a:path h="2952241" w="2952241">
                <a:moveTo>
                  <a:pt x="0" y="0"/>
                </a:moveTo>
                <a:lnTo>
                  <a:pt x="2952242" y="0"/>
                </a:lnTo>
                <a:lnTo>
                  <a:pt x="2952242" y="2952241"/>
                </a:lnTo>
                <a:lnTo>
                  <a:pt x="0" y="295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43256" y="3519533"/>
            <a:ext cx="2873329" cy="2873329"/>
          </a:xfrm>
          <a:custGeom>
            <a:avLst/>
            <a:gdLst/>
            <a:ahLst/>
            <a:cxnLst/>
            <a:rect r="r" b="b" t="t" l="l"/>
            <a:pathLst>
              <a:path h="2873329" w="2873329">
                <a:moveTo>
                  <a:pt x="0" y="0"/>
                </a:moveTo>
                <a:lnTo>
                  <a:pt x="2873329" y="0"/>
                </a:lnTo>
                <a:lnTo>
                  <a:pt x="2873329" y="2873329"/>
                </a:lnTo>
                <a:lnTo>
                  <a:pt x="0" y="2873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31931" y="3519533"/>
            <a:ext cx="2819275" cy="2819275"/>
          </a:xfrm>
          <a:custGeom>
            <a:avLst/>
            <a:gdLst/>
            <a:ahLst/>
            <a:cxnLst/>
            <a:rect r="r" b="b" t="t" l="l"/>
            <a:pathLst>
              <a:path h="2819275" w="2819275">
                <a:moveTo>
                  <a:pt x="0" y="0"/>
                </a:moveTo>
                <a:lnTo>
                  <a:pt x="2819275" y="0"/>
                </a:lnTo>
                <a:lnTo>
                  <a:pt x="2819275" y="2819275"/>
                </a:lnTo>
                <a:lnTo>
                  <a:pt x="0" y="2819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08635" y="3420182"/>
            <a:ext cx="2899576" cy="2899576"/>
          </a:xfrm>
          <a:custGeom>
            <a:avLst/>
            <a:gdLst/>
            <a:ahLst/>
            <a:cxnLst/>
            <a:rect r="r" b="b" t="t" l="l"/>
            <a:pathLst>
              <a:path h="2899576" w="2899576">
                <a:moveTo>
                  <a:pt x="0" y="0"/>
                </a:moveTo>
                <a:lnTo>
                  <a:pt x="2899576" y="0"/>
                </a:lnTo>
                <a:lnTo>
                  <a:pt x="2899576" y="2899576"/>
                </a:lnTo>
                <a:lnTo>
                  <a:pt x="0" y="2899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29216" y="3478688"/>
            <a:ext cx="2860120" cy="2860120"/>
          </a:xfrm>
          <a:custGeom>
            <a:avLst/>
            <a:gdLst/>
            <a:ahLst/>
            <a:cxnLst/>
            <a:rect r="r" b="b" t="t" l="l"/>
            <a:pathLst>
              <a:path h="2860120" w="2860120">
                <a:moveTo>
                  <a:pt x="0" y="0"/>
                </a:moveTo>
                <a:lnTo>
                  <a:pt x="2860120" y="0"/>
                </a:lnTo>
                <a:lnTo>
                  <a:pt x="2860120" y="2860120"/>
                </a:lnTo>
                <a:lnTo>
                  <a:pt x="0" y="28601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2198822" y="1406339"/>
            <a:ext cx="20514996" cy="135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4"/>
              </a:lnSpc>
            </a:pPr>
            <a:r>
              <a:rPr lang="en-US" b="true" sz="8407" spc="-29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Group Members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0676" y="6430013"/>
            <a:ext cx="3177823" cy="134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7"/>
              </a:lnSpc>
              <a:spcBef>
                <a:spcPct val="0"/>
              </a:spcBef>
            </a:pPr>
            <a:r>
              <a:rPr lang="en-US" b="true" sz="3769" spc="-19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Eman </a:t>
            </a:r>
          </a:p>
          <a:p>
            <a:pPr algn="ctr">
              <a:lnSpc>
                <a:spcPts val="5277"/>
              </a:lnSpc>
              <a:spcBef>
                <a:spcPct val="0"/>
              </a:spcBef>
            </a:pPr>
            <a:r>
              <a:rPr lang="en-US" b="true" sz="3769" spc="-19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Waheed (027)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50321" y="6420488"/>
            <a:ext cx="2860120" cy="13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-1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Fatima 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-1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Sabir (034)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05800" y="6332935"/>
            <a:ext cx="2276401" cy="13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-1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Laiba 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-1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Rani (053)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68819" y="6332935"/>
            <a:ext cx="3222203" cy="13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-1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Sania 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-1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Shafique (078)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10515" y="6332935"/>
            <a:ext cx="2997696" cy="13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-1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Sania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-1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Arshad (098)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67030" y="1946428"/>
            <a:ext cx="5899931" cy="6568749"/>
          </a:xfrm>
          <a:custGeom>
            <a:avLst/>
            <a:gdLst/>
            <a:ahLst/>
            <a:cxnLst/>
            <a:rect r="r" b="b" t="t" l="l"/>
            <a:pathLst>
              <a:path h="6568749" w="5899931">
                <a:moveTo>
                  <a:pt x="0" y="0"/>
                </a:moveTo>
                <a:lnTo>
                  <a:pt x="5899931" y="0"/>
                </a:lnTo>
                <a:lnTo>
                  <a:pt x="5899931" y="6568748"/>
                </a:lnTo>
                <a:lnTo>
                  <a:pt x="0" y="656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07704" y="2824743"/>
            <a:ext cx="2226367" cy="2498984"/>
          </a:xfrm>
          <a:custGeom>
            <a:avLst/>
            <a:gdLst/>
            <a:ahLst/>
            <a:cxnLst/>
            <a:rect r="r" b="b" t="t" l="l"/>
            <a:pathLst>
              <a:path h="2498984" w="2226367">
                <a:moveTo>
                  <a:pt x="0" y="0"/>
                </a:moveTo>
                <a:lnTo>
                  <a:pt x="2226367" y="0"/>
                </a:lnTo>
                <a:lnTo>
                  <a:pt x="2226367" y="2498984"/>
                </a:lnTo>
                <a:lnTo>
                  <a:pt x="0" y="2498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32435"/>
            <a:ext cx="9641803" cy="150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29"/>
              </a:lnSpc>
            </a:pPr>
            <a:r>
              <a:rPr lang="en-US" sz="9436" spc="-33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2242" y="3563826"/>
            <a:ext cx="7292010" cy="441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128" indent="-276564" lvl="1">
              <a:lnSpc>
                <a:spcPts val="4355"/>
              </a:lnSpc>
              <a:buFont typeface="Arial"/>
              <a:buChar char="•"/>
            </a:pPr>
            <a:r>
              <a:rPr lang="en-US" sz="256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Implementation of a serverless application using AWS Lambda &amp; API Gateway</a:t>
            </a:r>
          </a:p>
          <a:p>
            <a:pPr algn="l" marL="553128" indent="-276564" lvl="1">
              <a:lnSpc>
                <a:spcPts val="4355"/>
              </a:lnSpc>
              <a:buFont typeface="Arial"/>
              <a:buChar char="•"/>
            </a:pPr>
            <a:r>
              <a:rPr lang="en-US" sz="256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 need to manage servers</a:t>
            </a:r>
          </a:p>
          <a:p>
            <a:pPr algn="l" marL="553128" indent="-276564" lvl="1">
              <a:lnSpc>
                <a:spcPts val="4355"/>
              </a:lnSpc>
              <a:buFont typeface="Arial"/>
              <a:buChar char="•"/>
            </a:pPr>
            <a:r>
              <a:rPr lang="en-US" sz="256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Event-driven execution model</a:t>
            </a:r>
          </a:p>
          <a:p>
            <a:pPr algn="l" marL="553128" indent="-276564" lvl="1">
              <a:lnSpc>
                <a:spcPts val="4355"/>
              </a:lnSpc>
              <a:buFont typeface="Arial"/>
              <a:buChar char="•"/>
            </a:pPr>
            <a:r>
              <a:rPr lang="en-US" sz="256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REST API created using API Gateway</a:t>
            </a:r>
          </a:p>
          <a:p>
            <a:pPr algn="l" marL="553128" indent="-276564" lvl="1">
              <a:lnSpc>
                <a:spcPts val="4355"/>
              </a:lnSpc>
              <a:buFont typeface="Arial"/>
              <a:buChar char="•"/>
            </a:pPr>
            <a:r>
              <a:rPr lang="en-US" sz="256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Demonstrates scalable and cost-effective cloud computing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067381" y="6384559"/>
            <a:ext cx="2509990" cy="2468918"/>
          </a:xfrm>
          <a:custGeom>
            <a:avLst/>
            <a:gdLst/>
            <a:ahLst/>
            <a:cxnLst/>
            <a:rect r="r" b="b" t="t" l="l"/>
            <a:pathLst>
              <a:path h="2468918" w="2509990">
                <a:moveTo>
                  <a:pt x="0" y="0"/>
                </a:moveTo>
                <a:lnTo>
                  <a:pt x="2509990" y="0"/>
                </a:lnTo>
                <a:lnTo>
                  <a:pt x="2509990" y="2468918"/>
                </a:lnTo>
                <a:lnTo>
                  <a:pt x="0" y="2468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061713" y="1954611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95159" y="2201377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3417" y="5042826"/>
            <a:ext cx="2036403" cy="3303898"/>
          </a:xfrm>
          <a:custGeom>
            <a:avLst/>
            <a:gdLst/>
            <a:ahLst/>
            <a:cxnLst/>
            <a:rect r="r" b="b" t="t" l="l"/>
            <a:pathLst>
              <a:path h="3303898" w="2036403">
                <a:moveTo>
                  <a:pt x="0" y="0"/>
                </a:moveTo>
                <a:lnTo>
                  <a:pt x="2036403" y="0"/>
                </a:lnTo>
                <a:lnTo>
                  <a:pt x="2036403" y="3303899"/>
                </a:lnTo>
                <a:lnTo>
                  <a:pt x="0" y="3303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4252" y="1811711"/>
            <a:ext cx="9816445" cy="197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6"/>
              </a:lnSpc>
            </a:pPr>
            <a:r>
              <a:rPr lang="en-US" sz="12282" spc="-42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85475" y="4014804"/>
            <a:ext cx="10387404" cy="462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4591"/>
              </a:lnSpc>
              <a:buFont typeface="Arial"/>
              <a:buChar char="•"/>
            </a:pP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Cloud computing provides on-demand resources</a:t>
            </a:r>
          </a:p>
          <a:p>
            <a:pPr algn="l" marL="583142" indent="-291571" lvl="1">
              <a:lnSpc>
                <a:spcPts val="4591"/>
              </a:lnSpc>
              <a:buFont typeface="Arial"/>
              <a:buChar char="•"/>
            </a:pP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Traditional systems require:</a:t>
            </a:r>
          </a:p>
          <a:p>
            <a:pPr algn="l" marL="583142" indent="-291571" lvl="1">
              <a:lnSpc>
                <a:spcPts val="4591"/>
              </a:lnSpc>
              <a:buAutoNum type="arabicPeriod" startAt="1"/>
            </a:pP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Server setup</a:t>
            </a:r>
          </a:p>
          <a:p>
            <a:pPr algn="l" marL="583142" indent="-291571" lvl="1">
              <a:lnSpc>
                <a:spcPts val="4591"/>
              </a:lnSpc>
              <a:buAutoNum type="arabicPeriod" startAt="1"/>
            </a:pP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Maintenance</a:t>
            </a:r>
          </a:p>
          <a:p>
            <a:pPr algn="l" marL="583142" indent="-291571" lvl="1">
              <a:lnSpc>
                <a:spcPts val="4591"/>
              </a:lnSpc>
              <a:buAutoNum type="arabicPeriod" startAt="1"/>
            </a:pP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Scaling</a:t>
            </a:r>
          </a:p>
          <a:p>
            <a:pPr algn="l" marL="583142" indent="-291571" lvl="1">
              <a:lnSpc>
                <a:spcPts val="4591"/>
              </a:lnSpc>
              <a:buFont typeface="Arial"/>
              <a:buChar char="•"/>
            </a:pP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Serverless computing removes these responsibilities</a:t>
            </a:r>
          </a:p>
          <a:p>
            <a:pPr algn="l" marL="583142" indent="-291571" lvl="1">
              <a:lnSpc>
                <a:spcPts val="4591"/>
              </a:lnSpc>
              <a:buFont typeface="Arial"/>
              <a:buChar char="•"/>
            </a:pPr>
            <a:r>
              <a:rPr lang="en-US" sz="27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AWS Lambda runs code automatically in response to events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026605" y="2319828"/>
            <a:ext cx="3409941" cy="2913949"/>
          </a:xfrm>
          <a:custGeom>
            <a:avLst/>
            <a:gdLst/>
            <a:ahLst/>
            <a:cxnLst/>
            <a:rect r="r" b="b" t="t" l="l"/>
            <a:pathLst>
              <a:path h="2913949" w="3409941">
                <a:moveTo>
                  <a:pt x="0" y="0"/>
                </a:moveTo>
                <a:lnTo>
                  <a:pt x="3409941" y="0"/>
                </a:lnTo>
                <a:lnTo>
                  <a:pt x="3409941" y="2913950"/>
                </a:lnTo>
                <a:lnTo>
                  <a:pt x="0" y="291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85865" y="2403273"/>
            <a:ext cx="4436172" cy="5661009"/>
          </a:xfrm>
          <a:custGeom>
            <a:avLst/>
            <a:gdLst/>
            <a:ahLst/>
            <a:cxnLst/>
            <a:rect r="r" b="b" t="t" l="l"/>
            <a:pathLst>
              <a:path h="5661009" w="4436172">
                <a:moveTo>
                  <a:pt x="0" y="0"/>
                </a:moveTo>
                <a:lnTo>
                  <a:pt x="4436172" y="0"/>
                </a:lnTo>
                <a:lnTo>
                  <a:pt x="4436172" y="5661009"/>
                </a:lnTo>
                <a:lnTo>
                  <a:pt x="0" y="5661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6265" y="3936127"/>
            <a:ext cx="2909315" cy="4969328"/>
          </a:xfrm>
          <a:custGeom>
            <a:avLst/>
            <a:gdLst/>
            <a:ahLst/>
            <a:cxnLst/>
            <a:rect r="r" b="b" t="t" l="l"/>
            <a:pathLst>
              <a:path h="4969328" w="2909315">
                <a:moveTo>
                  <a:pt x="0" y="0"/>
                </a:moveTo>
                <a:lnTo>
                  <a:pt x="2909316" y="0"/>
                </a:lnTo>
                <a:lnTo>
                  <a:pt x="2909316" y="4969328"/>
                </a:lnTo>
                <a:lnTo>
                  <a:pt x="0" y="49693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243628"/>
            <a:ext cx="9161834" cy="271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0"/>
              </a:lnSpc>
            </a:pPr>
            <a:r>
              <a:rPr lang="en-US" sz="8731" spc="-305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Problem Statement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000625"/>
            <a:ext cx="11013854" cy="27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492" indent="-279746" lvl="1">
              <a:lnSpc>
                <a:spcPts val="4405"/>
              </a:lnSpc>
              <a:buFont typeface="Arial"/>
              <a:buChar char="•"/>
            </a:pPr>
            <a:r>
              <a:rPr lang="en-US" sz="259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Traditional deployment leads to:</a:t>
            </a:r>
          </a:p>
          <a:p>
            <a:pPr algn="l" marL="559492" indent="-279746" lvl="1">
              <a:lnSpc>
                <a:spcPts val="4405"/>
              </a:lnSpc>
              <a:buFont typeface="Arial"/>
              <a:buChar char="•"/>
            </a:pPr>
            <a:r>
              <a:rPr lang="en-US" sz="259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High cost</a:t>
            </a:r>
          </a:p>
          <a:p>
            <a:pPr algn="l" marL="559492" indent="-279746" lvl="1">
              <a:lnSpc>
                <a:spcPts val="4405"/>
              </a:lnSpc>
              <a:buFont typeface="Arial"/>
              <a:buChar char="•"/>
            </a:pPr>
            <a:r>
              <a:rPr lang="en-US" sz="259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Maintenance burden</a:t>
            </a:r>
          </a:p>
          <a:p>
            <a:pPr algn="l" marL="559492" indent="-279746" lvl="1">
              <a:lnSpc>
                <a:spcPts val="4405"/>
              </a:lnSpc>
              <a:buFont typeface="Arial"/>
              <a:buChar char="•"/>
            </a:pPr>
            <a:r>
              <a:rPr lang="en-US" sz="259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Increased complexity</a:t>
            </a:r>
          </a:p>
          <a:p>
            <a:pPr algn="l" marL="559492" indent="-279746" lvl="1">
              <a:lnSpc>
                <a:spcPts val="4405"/>
              </a:lnSpc>
              <a:buFont typeface="Arial"/>
              <a:buChar char="•"/>
            </a:pPr>
            <a:r>
              <a:rPr lang="en-US" sz="259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Need for a system that eliminates server management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948143" y="2106701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36946" y="3408084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949040" y="5110673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83284" y="5416288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8"/>
                </a:lnTo>
                <a:lnTo>
                  <a:pt x="0" y="3074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66688" y="2469576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1" y="0"/>
                </a:lnTo>
                <a:lnTo>
                  <a:pt x="1799451" y="2618247"/>
                </a:lnTo>
                <a:lnTo>
                  <a:pt x="0" y="2618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04799" y="2389110"/>
            <a:ext cx="11390799" cy="193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8"/>
              </a:lnSpc>
            </a:pPr>
            <a:r>
              <a:rPr lang="en-US" sz="12032" spc="-421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Objectives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04799" y="4600525"/>
            <a:ext cx="10776098" cy="315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233" indent="-320116" lvl="1">
              <a:lnSpc>
                <a:spcPts val="5041"/>
              </a:lnSpc>
              <a:buFont typeface="Arial"/>
              <a:buChar char="•"/>
            </a:pPr>
            <a:r>
              <a:rPr lang="en-US" sz="2965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Understand serverless computing</a:t>
            </a:r>
          </a:p>
          <a:p>
            <a:pPr algn="l" marL="640233" indent="-320116" lvl="1">
              <a:lnSpc>
                <a:spcPts val="5041"/>
              </a:lnSpc>
              <a:buFont typeface="Arial"/>
              <a:buChar char="•"/>
            </a:pPr>
            <a:r>
              <a:rPr lang="en-US" sz="2965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Learn AWS Lambda deployment</a:t>
            </a:r>
          </a:p>
          <a:p>
            <a:pPr algn="l" marL="640233" indent="-320116" lvl="1">
              <a:lnSpc>
                <a:spcPts val="5041"/>
              </a:lnSpc>
              <a:buFont typeface="Arial"/>
              <a:buChar char="•"/>
            </a:pPr>
            <a:r>
              <a:rPr lang="en-US" sz="2965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Integrate API Gateway</a:t>
            </a:r>
          </a:p>
          <a:p>
            <a:pPr algn="l" marL="640233" indent="-320116" lvl="1">
              <a:lnSpc>
                <a:spcPts val="5041"/>
              </a:lnSpc>
              <a:buFont typeface="Arial"/>
              <a:buChar char="•"/>
            </a:pPr>
            <a:r>
              <a:rPr lang="en-US" sz="2965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Create and test APIs</a:t>
            </a:r>
          </a:p>
          <a:p>
            <a:pPr algn="l" marL="640233" indent="-320116" lvl="1">
              <a:lnSpc>
                <a:spcPts val="5041"/>
              </a:lnSpc>
              <a:buFont typeface="Arial"/>
              <a:buChar char="•"/>
            </a:pPr>
            <a:r>
              <a:rPr lang="en-US" sz="2965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Explore event-driven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0346" y="1776366"/>
            <a:ext cx="3306692" cy="4915353"/>
          </a:xfrm>
          <a:custGeom>
            <a:avLst/>
            <a:gdLst/>
            <a:ahLst/>
            <a:cxnLst/>
            <a:rect r="r" b="b" t="t" l="l"/>
            <a:pathLst>
              <a:path h="4915353" w="3306692">
                <a:moveTo>
                  <a:pt x="0" y="0"/>
                </a:moveTo>
                <a:lnTo>
                  <a:pt x="3306692" y="0"/>
                </a:lnTo>
                <a:lnTo>
                  <a:pt x="3306692" y="4915353"/>
                </a:lnTo>
                <a:lnTo>
                  <a:pt x="0" y="4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648749" y="4269958"/>
            <a:ext cx="2763113" cy="4719604"/>
          </a:xfrm>
          <a:custGeom>
            <a:avLst/>
            <a:gdLst/>
            <a:ahLst/>
            <a:cxnLst/>
            <a:rect r="r" b="b" t="t" l="l"/>
            <a:pathLst>
              <a:path h="4719604" w="2763113">
                <a:moveTo>
                  <a:pt x="0" y="0"/>
                </a:moveTo>
                <a:lnTo>
                  <a:pt x="2763113" y="0"/>
                </a:lnTo>
                <a:lnTo>
                  <a:pt x="2763113" y="4719604"/>
                </a:lnTo>
                <a:lnTo>
                  <a:pt x="0" y="4719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40102" y="3756628"/>
            <a:ext cx="3508802" cy="4114800"/>
          </a:xfrm>
          <a:custGeom>
            <a:avLst/>
            <a:gdLst/>
            <a:ahLst/>
            <a:cxnLst/>
            <a:rect r="r" b="b" t="t" l="l"/>
            <a:pathLst>
              <a:path h="4114800" w="3508802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5544" y="1705655"/>
            <a:ext cx="8404558" cy="264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7"/>
              </a:lnSpc>
            </a:pPr>
            <a:r>
              <a:rPr lang="en-US" sz="8510" spc="-29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Serverless Computing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6210" y="4469685"/>
            <a:ext cx="9915387" cy="451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611" indent="-285306" lvl="1">
              <a:lnSpc>
                <a:spcPts val="4493"/>
              </a:lnSpc>
              <a:buFont typeface="Arial"/>
              <a:buChar char="•"/>
            </a:pPr>
            <a:r>
              <a:rPr lang="en-US" sz="2642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Cloud model without server management</a:t>
            </a:r>
          </a:p>
          <a:p>
            <a:pPr algn="l" marL="570611" indent="-285306" lvl="1">
              <a:lnSpc>
                <a:spcPts val="4493"/>
              </a:lnSpc>
              <a:buFont typeface="Arial"/>
              <a:buChar char="•"/>
            </a:pPr>
            <a:r>
              <a:rPr lang="en-US" sz="2642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Infrastructure handled by provider</a:t>
            </a:r>
          </a:p>
          <a:p>
            <a:pPr algn="l">
              <a:lnSpc>
                <a:spcPts val="4493"/>
              </a:lnSpc>
            </a:pPr>
            <a:r>
              <a:rPr lang="en-US" sz="2642" b="true">
                <a:solidFill>
                  <a:srgbClr val="FFFFFF">
                    <a:alpha val="7176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Features:</a:t>
            </a:r>
          </a:p>
          <a:p>
            <a:pPr algn="l" marL="570611" indent="-285306" lvl="1">
              <a:lnSpc>
                <a:spcPts val="4493"/>
              </a:lnSpc>
              <a:buFont typeface="Arial"/>
              <a:buChar char="•"/>
            </a:pPr>
            <a:r>
              <a:rPr lang="en-US" sz="2642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Auto scaling</a:t>
            </a:r>
          </a:p>
          <a:p>
            <a:pPr algn="l" marL="570611" indent="-285306" lvl="1">
              <a:lnSpc>
                <a:spcPts val="4493"/>
              </a:lnSpc>
              <a:buFont typeface="Arial"/>
              <a:buChar char="•"/>
            </a:pPr>
            <a:r>
              <a:rPr lang="en-US" sz="2642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Pay-per-use</a:t>
            </a:r>
          </a:p>
          <a:p>
            <a:pPr algn="l" marL="570611" indent="-285306" lvl="1">
              <a:lnSpc>
                <a:spcPts val="4493"/>
              </a:lnSpc>
              <a:buFont typeface="Arial"/>
              <a:buChar char="•"/>
            </a:pPr>
            <a:r>
              <a:rPr lang="en-US" sz="2642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High availability</a:t>
            </a:r>
          </a:p>
          <a:p>
            <a:pPr algn="l" marL="570611" indent="-285306" lvl="1">
              <a:lnSpc>
                <a:spcPts val="4493"/>
              </a:lnSpc>
              <a:buFont typeface="Arial"/>
              <a:buChar char="•"/>
            </a:pPr>
            <a:r>
              <a:rPr lang="en-US" sz="2642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Event-driven execution</a:t>
            </a:r>
          </a:p>
          <a:p>
            <a:pPr algn="l" marL="570611" indent="-285306" lvl="1">
              <a:lnSpc>
                <a:spcPts val="4493"/>
              </a:lnSpc>
              <a:buFont typeface="Arial"/>
              <a:buChar char="•"/>
            </a:pPr>
            <a:r>
              <a:rPr lang="en-US" sz="2642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Reduced maintenance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349803" y="2463586"/>
            <a:ext cx="2750244" cy="4435878"/>
          </a:xfrm>
          <a:custGeom>
            <a:avLst/>
            <a:gdLst/>
            <a:ahLst/>
            <a:cxnLst/>
            <a:rect r="r" b="b" t="t" l="l"/>
            <a:pathLst>
              <a:path h="4435878" w="2750244">
                <a:moveTo>
                  <a:pt x="0" y="0"/>
                </a:moveTo>
                <a:lnTo>
                  <a:pt x="2750244" y="0"/>
                </a:lnTo>
                <a:lnTo>
                  <a:pt x="2750244" y="4435878"/>
                </a:lnTo>
                <a:lnTo>
                  <a:pt x="0" y="4435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66825" y="2262679"/>
            <a:ext cx="2087411" cy="3366792"/>
          </a:xfrm>
          <a:custGeom>
            <a:avLst/>
            <a:gdLst/>
            <a:ahLst/>
            <a:cxnLst/>
            <a:rect r="r" b="b" t="t" l="l"/>
            <a:pathLst>
              <a:path h="3366792" w="2087411">
                <a:moveTo>
                  <a:pt x="0" y="0"/>
                </a:moveTo>
                <a:lnTo>
                  <a:pt x="2087411" y="0"/>
                </a:lnTo>
                <a:lnTo>
                  <a:pt x="2087411" y="3366792"/>
                </a:lnTo>
                <a:lnTo>
                  <a:pt x="0" y="3366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61310" y="3874059"/>
            <a:ext cx="2750244" cy="4435878"/>
          </a:xfrm>
          <a:custGeom>
            <a:avLst/>
            <a:gdLst/>
            <a:ahLst/>
            <a:cxnLst/>
            <a:rect r="r" b="b" t="t" l="l"/>
            <a:pathLst>
              <a:path h="4435878" w="2750244">
                <a:moveTo>
                  <a:pt x="0" y="0"/>
                </a:moveTo>
                <a:lnTo>
                  <a:pt x="2750244" y="0"/>
                </a:lnTo>
                <a:lnTo>
                  <a:pt x="2750244" y="4435878"/>
                </a:lnTo>
                <a:lnTo>
                  <a:pt x="0" y="4435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32605" y="4536938"/>
            <a:ext cx="2926695" cy="4258418"/>
          </a:xfrm>
          <a:custGeom>
            <a:avLst/>
            <a:gdLst/>
            <a:ahLst/>
            <a:cxnLst/>
            <a:rect r="r" b="b" t="t" l="l"/>
            <a:pathLst>
              <a:path h="4258418" w="2926695">
                <a:moveTo>
                  <a:pt x="0" y="0"/>
                </a:moveTo>
                <a:lnTo>
                  <a:pt x="2926695" y="0"/>
                </a:lnTo>
                <a:lnTo>
                  <a:pt x="2926695" y="4258419"/>
                </a:lnTo>
                <a:lnTo>
                  <a:pt x="0" y="42584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95890" y="6091998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1" y="0"/>
                </a:lnTo>
                <a:lnTo>
                  <a:pt x="1799451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483" y="2558696"/>
            <a:ext cx="8342877" cy="269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3"/>
              </a:lnSpc>
            </a:pPr>
            <a:r>
              <a:rPr lang="en-US" sz="8674" spc="-30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Technologies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4094" y="5473165"/>
            <a:ext cx="18189201" cy="283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962" indent="-287981" lvl="1">
              <a:lnSpc>
                <a:spcPts val="4535"/>
              </a:lnSpc>
              <a:buFont typeface="Arial"/>
              <a:buChar char="•"/>
            </a:pPr>
            <a:r>
              <a:rPr lang="en-US" sz="2667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AWS Lambda → Run backend code</a:t>
            </a:r>
          </a:p>
          <a:p>
            <a:pPr algn="l" marL="575962" indent="-287981" lvl="1">
              <a:lnSpc>
                <a:spcPts val="4535"/>
              </a:lnSpc>
              <a:buFont typeface="Arial"/>
              <a:buChar char="•"/>
            </a:pPr>
            <a:r>
              <a:rPr lang="en-US" sz="2667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API Gateway → Create API endpoints</a:t>
            </a:r>
          </a:p>
          <a:p>
            <a:pPr algn="l" marL="575962" indent="-287981" lvl="1">
              <a:lnSpc>
                <a:spcPts val="4535"/>
              </a:lnSpc>
              <a:buFont typeface="Arial"/>
              <a:buChar char="•"/>
            </a:pPr>
            <a:r>
              <a:rPr lang="en-US" sz="2667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Python → Programming language</a:t>
            </a:r>
          </a:p>
          <a:p>
            <a:pPr algn="l" marL="575962" indent="-287981" lvl="1">
              <a:lnSpc>
                <a:spcPts val="4535"/>
              </a:lnSpc>
              <a:buFont typeface="Arial"/>
              <a:buChar char="•"/>
            </a:pPr>
            <a:r>
              <a:rPr lang="en-US" sz="2667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AWS Free Tier → Cost-free usage</a:t>
            </a:r>
          </a:p>
          <a:p>
            <a:pPr algn="l" marL="575962" indent="-287981" lvl="1">
              <a:lnSpc>
                <a:spcPts val="4535"/>
              </a:lnSpc>
              <a:buFont typeface="Arial"/>
              <a:buChar char="•"/>
            </a:pPr>
            <a:r>
              <a:rPr lang="en-US" sz="2667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Browser → Testing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53347" y="1871243"/>
            <a:ext cx="12758136" cy="134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7"/>
              </a:lnSpc>
            </a:pPr>
            <a:r>
              <a:rPr lang="en-US" b="true" sz="8359" spc="-29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36210" y="3465511"/>
            <a:ext cx="10396084" cy="442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955" indent="-374477" lvl="1">
              <a:lnSpc>
                <a:spcPts val="5897"/>
              </a:lnSpc>
              <a:buFont typeface="Arial"/>
              <a:buChar char="•"/>
            </a:pPr>
            <a:r>
              <a:rPr lang="en-US" b="true" sz="3468">
                <a:solidFill>
                  <a:srgbClr val="FFFFFF">
                    <a:alpha val="7176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Flow: </a:t>
            </a:r>
          </a:p>
          <a:p>
            <a:pPr algn="ctr">
              <a:lnSpc>
                <a:spcPts val="5897"/>
              </a:lnSpc>
            </a:pPr>
            <a:r>
              <a:rPr lang="en-US" sz="3468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Client → API Gateway → AWS Lambda → Process → Response</a:t>
            </a:r>
          </a:p>
          <a:p>
            <a:pPr algn="l" marL="748955" indent="-374477" lvl="1">
              <a:lnSpc>
                <a:spcPts val="5897"/>
              </a:lnSpc>
              <a:buFont typeface="Arial"/>
              <a:buChar char="•"/>
            </a:pPr>
            <a:r>
              <a:rPr lang="en-US" sz="3468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API Gateway receives request</a:t>
            </a:r>
          </a:p>
          <a:p>
            <a:pPr algn="l" marL="748955" indent="-374477" lvl="1">
              <a:lnSpc>
                <a:spcPts val="5897"/>
              </a:lnSpc>
              <a:buFont typeface="Arial"/>
              <a:buChar char="•"/>
            </a:pPr>
            <a:r>
              <a:rPr lang="en-US" sz="3468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Lambda processes it</a:t>
            </a:r>
          </a:p>
          <a:p>
            <a:pPr algn="l" marL="748955" indent="-374477" lvl="1">
              <a:lnSpc>
                <a:spcPts val="5897"/>
              </a:lnSpc>
              <a:buFont typeface="Arial"/>
              <a:buChar char="•"/>
            </a:pPr>
            <a:r>
              <a:rPr lang="en-US" sz="3468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Response sent back to user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059641" y="2556873"/>
            <a:ext cx="4074611" cy="3778276"/>
          </a:xfrm>
          <a:custGeom>
            <a:avLst/>
            <a:gdLst/>
            <a:ahLst/>
            <a:cxnLst/>
            <a:rect r="r" b="b" t="t" l="l"/>
            <a:pathLst>
              <a:path h="3778276" w="4074611">
                <a:moveTo>
                  <a:pt x="0" y="0"/>
                </a:moveTo>
                <a:lnTo>
                  <a:pt x="4074611" y="0"/>
                </a:lnTo>
                <a:lnTo>
                  <a:pt x="4074611" y="3778276"/>
                </a:lnTo>
                <a:lnTo>
                  <a:pt x="0" y="377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5660" y="3039406"/>
            <a:ext cx="2615426" cy="3805513"/>
          </a:xfrm>
          <a:custGeom>
            <a:avLst/>
            <a:gdLst/>
            <a:ahLst/>
            <a:cxnLst/>
            <a:rect r="r" b="b" t="t" l="l"/>
            <a:pathLst>
              <a:path h="3805513" w="2615426">
                <a:moveTo>
                  <a:pt x="0" y="0"/>
                </a:moveTo>
                <a:lnTo>
                  <a:pt x="2615426" y="0"/>
                </a:lnTo>
                <a:lnTo>
                  <a:pt x="2615426" y="3805513"/>
                </a:lnTo>
                <a:lnTo>
                  <a:pt x="0" y="38055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77365" y="5304670"/>
            <a:ext cx="4058757" cy="3468393"/>
          </a:xfrm>
          <a:custGeom>
            <a:avLst/>
            <a:gdLst/>
            <a:ahLst/>
            <a:cxnLst/>
            <a:rect r="r" b="b" t="t" l="l"/>
            <a:pathLst>
              <a:path h="3468393" w="4058757">
                <a:moveTo>
                  <a:pt x="0" y="0"/>
                </a:moveTo>
                <a:lnTo>
                  <a:pt x="4058757" y="0"/>
                </a:lnTo>
                <a:lnTo>
                  <a:pt x="4058757" y="3468393"/>
                </a:lnTo>
                <a:lnTo>
                  <a:pt x="0" y="34683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499723"/>
            <a:ext cx="7267862" cy="114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Working 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284086"/>
            <a:ext cx="7679632" cy="347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User sends request:</a:t>
            </a:r>
          </a:p>
          <a:p>
            <a:pPr algn="ctr">
              <a:lnSpc>
                <a:spcPts val="4615"/>
              </a:lnSpc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14" b="true">
                <a:solidFill>
                  <a:srgbClr val="FFFFFF">
                    <a:alpha val="7176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/hello?name=Sania</a:t>
            </a:r>
          </a:p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API Gateway triggers Lambda</a:t>
            </a:r>
          </a:p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Lambda processes input</a:t>
            </a:r>
          </a:p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Output returned:</a:t>
            </a:r>
          </a:p>
          <a:p>
            <a:pPr algn="ctr" marL="0" indent="0" lvl="0">
              <a:lnSpc>
                <a:spcPts val="4615"/>
              </a:lnSpc>
              <a:spcBef>
                <a:spcPct val="0"/>
              </a:spcBef>
            </a:pPr>
            <a:r>
              <a:rPr lang="en-US" b="true" sz="2714">
                <a:solidFill>
                  <a:srgbClr val="FFFFFF">
                    <a:alpha val="7176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“Hello Sania, Serverless working!”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948143" y="2106701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36946" y="3408084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949040" y="5110673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83284" y="5416288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8"/>
                </a:lnTo>
                <a:lnTo>
                  <a:pt x="0" y="3074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66688" y="2469576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1" y="0"/>
                </a:lnTo>
                <a:lnTo>
                  <a:pt x="1799451" y="2618247"/>
                </a:lnTo>
                <a:lnTo>
                  <a:pt x="0" y="2618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31950" y="2402901"/>
            <a:ext cx="10345947" cy="112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4"/>
              </a:lnSpc>
            </a:pPr>
            <a:r>
              <a:rPr lang="en-US" sz="7003" spc="-24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Steps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1950" y="3597725"/>
            <a:ext cx="7509833" cy="489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AWS Account Setup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Lambda Function Creation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Writing Lambda Code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Testing Function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API Gateway Integration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Browser Testing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67030" y="1946428"/>
            <a:ext cx="5899931" cy="6568749"/>
          </a:xfrm>
          <a:custGeom>
            <a:avLst/>
            <a:gdLst/>
            <a:ahLst/>
            <a:cxnLst/>
            <a:rect r="r" b="b" t="t" l="l"/>
            <a:pathLst>
              <a:path h="6568749" w="5899931">
                <a:moveTo>
                  <a:pt x="0" y="0"/>
                </a:moveTo>
                <a:lnTo>
                  <a:pt x="5899931" y="0"/>
                </a:lnTo>
                <a:lnTo>
                  <a:pt x="5899931" y="6568748"/>
                </a:lnTo>
                <a:lnTo>
                  <a:pt x="0" y="656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07704" y="2824743"/>
            <a:ext cx="2226367" cy="2498984"/>
          </a:xfrm>
          <a:custGeom>
            <a:avLst/>
            <a:gdLst/>
            <a:ahLst/>
            <a:cxnLst/>
            <a:rect r="r" b="b" t="t" l="l"/>
            <a:pathLst>
              <a:path h="2498984" w="2226367">
                <a:moveTo>
                  <a:pt x="0" y="0"/>
                </a:moveTo>
                <a:lnTo>
                  <a:pt x="2226367" y="0"/>
                </a:lnTo>
                <a:lnTo>
                  <a:pt x="2226367" y="2498984"/>
                </a:lnTo>
                <a:lnTo>
                  <a:pt x="0" y="2498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067381" y="6384559"/>
            <a:ext cx="2509990" cy="2468918"/>
          </a:xfrm>
          <a:custGeom>
            <a:avLst/>
            <a:gdLst/>
            <a:ahLst/>
            <a:cxnLst/>
            <a:rect r="r" b="b" t="t" l="l"/>
            <a:pathLst>
              <a:path h="2468918" w="2509990">
                <a:moveTo>
                  <a:pt x="0" y="0"/>
                </a:moveTo>
                <a:lnTo>
                  <a:pt x="2509990" y="0"/>
                </a:lnTo>
                <a:lnTo>
                  <a:pt x="2509990" y="2468918"/>
                </a:lnTo>
                <a:lnTo>
                  <a:pt x="0" y="2468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6946" y="3716226"/>
            <a:ext cx="4981793" cy="4981793"/>
          </a:xfrm>
          <a:custGeom>
            <a:avLst/>
            <a:gdLst/>
            <a:ahLst/>
            <a:cxnLst/>
            <a:rect r="r" b="b" t="t" l="l"/>
            <a:pathLst>
              <a:path h="4981793" w="4981793">
                <a:moveTo>
                  <a:pt x="0" y="0"/>
                </a:moveTo>
                <a:lnTo>
                  <a:pt x="4981793" y="0"/>
                </a:lnTo>
                <a:lnTo>
                  <a:pt x="4981793" y="4981793"/>
                </a:lnTo>
                <a:lnTo>
                  <a:pt x="0" y="49817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5544" y="1566482"/>
            <a:ext cx="7105552" cy="214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5"/>
              </a:lnSpc>
            </a:pPr>
            <a:r>
              <a:rPr lang="en-US" sz="6954" spc="-24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Lambda Function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0849" y="4189713"/>
            <a:ext cx="3953986" cy="399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8"/>
              </a:lnSpc>
            </a:pPr>
            <a:r>
              <a:rPr lang="en-US" sz="1648" spc="206">
                <a:gradFill>
                  <a:gsLst>
                    <a:gs pos="0">
                      <a:srgbClr val="376BE9">
                        <a:alpha val="100000"/>
                      </a:srgbClr>
                    </a:gs>
                    <a:gs pos="100000">
                      <a:srgbClr val="0D379B">
                        <a:alpha val="100000"/>
                      </a:srgbClr>
                    </a:gs>
                  </a:gsLst>
                  <a:lin ang="0"/>
                </a:gra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 LAMBDA_HANDLER(EVENT, CONTEXT):</a:t>
            </a:r>
          </a:p>
          <a:p>
            <a:pPr algn="ctr">
              <a:lnSpc>
                <a:spcPts val="2308"/>
              </a:lnSpc>
            </a:pPr>
            <a:r>
              <a:rPr lang="en-US" sz="1648" spc="206">
                <a:gradFill>
                  <a:gsLst>
                    <a:gs pos="0">
                      <a:srgbClr val="376BE9">
                        <a:alpha val="100000"/>
                      </a:srgbClr>
                    </a:gs>
                    <a:gs pos="100000">
                      <a:srgbClr val="0D379B">
                        <a:alpha val="100000"/>
                      </a:srgbClr>
                    </a:gs>
                  </a:gsLst>
                  <a:lin ang="0"/>
                </a:gra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name="Guest"</a:t>
            </a:r>
          </a:p>
          <a:p>
            <a:pPr algn="ctr">
              <a:lnSpc>
                <a:spcPts val="2308"/>
              </a:lnSpc>
            </a:pPr>
            <a:r>
              <a:rPr lang="en-US" sz="1648" spc="206">
                <a:gradFill>
                  <a:gsLst>
                    <a:gs pos="0">
                      <a:srgbClr val="376BE9">
                        <a:alpha val="100000"/>
                      </a:srgbClr>
                    </a:gs>
                    <a:gs pos="100000">
                      <a:srgbClr val="0D379B">
                        <a:alpha val="100000"/>
                      </a:srgbClr>
                    </a:gs>
                  </a:gsLst>
                  <a:lin ang="0"/>
                </a:gra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if 'queryStringParameters' in event:</a:t>
            </a:r>
          </a:p>
          <a:p>
            <a:pPr algn="ctr">
              <a:lnSpc>
                <a:spcPts val="2308"/>
              </a:lnSpc>
            </a:pPr>
            <a:r>
              <a:rPr lang="en-US" sz="1648" spc="206">
                <a:gradFill>
                  <a:gsLst>
                    <a:gs pos="0">
                      <a:srgbClr val="376BE9">
                        <a:alpha val="100000"/>
                      </a:srgbClr>
                    </a:gs>
                    <a:gs pos="100000">
                      <a:srgbClr val="0D379B">
                        <a:alpha val="100000"/>
                      </a:srgbClr>
                    </a:gs>
                  </a:gsLst>
                  <a:lin ang="0"/>
                </a:gra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name=event['queryStringParameters'].get('name','Guest')</a:t>
            </a:r>
          </a:p>
          <a:p>
            <a:pPr algn="ctr">
              <a:lnSpc>
                <a:spcPts val="2308"/>
              </a:lnSpc>
            </a:pPr>
          </a:p>
          <a:p>
            <a:pPr algn="ctr">
              <a:lnSpc>
                <a:spcPts val="2308"/>
              </a:lnSpc>
            </a:pPr>
            <a:r>
              <a:rPr lang="en-US" sz="1648" spc="206">
                <a:gradFill>
                  <a:gsLst>
                    <a:gs pos="0">
                      <a:srgbClr val="376BE9">
                        <a:alpha val="100000"/>
                      </a:srgbClr>
                    </a:gs>
                    <a:gs pos="100000">
                      <a:srgbClr val="0D379B">
                        <a:alpha val="100000"/>
                      </a:srgbClr>
                    </a:gs>
                  </a:gsLst>
                  <a:lin ang="0"/>
                </a:gra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return {</a:t>
            </a:r>
          </a:p>
          <a:p>
            <a:pPr algn="ctr">
              <a:lnSpc>
                <a:spcPts val="2308"/>
              </a:lnSpc>
            </a:pPr>
            <a:r>
              <a:rPr lang="en-US" sz="1648" spc="206">
                <a:gradFill>
                  <a:gsLst>
                    <a:gs pos="0">
                      <a:srgbClr val="376BE9">
                        <a:alpha val="100000"/>
                      </a:srgbClr>
                    </a:gs>
                    <a:gs pos="100000">
                      <a:srgbClr val="0D379B">
                        <a:alpha val="100000"/>
                      </a:srgbClr>
                    </a:gs>
                  </a:gsLst>
                  <a:lin ang="0"/>
                </a:gra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'statusCode':200,</a:t>
            </a:r>
          </a:p>
          <a:p>
            <a:pPr algn="ctr">
              <a:lnSpc>
                <a:spcPts val="2308"/>
              </a:lnSpc>
            </a:pPr>
            <a:r>
              <a:rPr lang="en-US" sz="1648" spc="206">
                <a:gradFill>
                  <a:gsLst>
                    <a:gs pos="0">
                      <a:srgbClr val="376BE9">
                        <a:alpha val="100000"/>
                      </a:srgbClr>
                    </a:gs>
                    <a:gs pos="100000">
                      <a:srgbClr val="0D379B">
                        <a:alpha val="100000"/>
                      </a:srgbClr>
                    </a:gs>
                  </a:gsLst>
                  <a:lin ang="0"/>
                </a:gra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'body': f"Hello {name}, Serverless working!"</a:t>
            </a:r>
          </a:p>
          <a:p>
            <a:pPr algn="ctr">
              <a:lnSpc>
                <a:spcPts val="2308"/>
              </a:lnSpc>
              <a:spcBef>
                <a:spcPct val="0"/>
              </a:spcBef>
            </a:pPr>
            <a:r>
              <a:rPr lang="en-US" sz="1648" spc="206">
                <a:gradFill>
                  <a:gsLst>
                    <a:gs pos="0">
                      <a:srgbClr val="376BE9">
                        <a:alpha val="100000"/>
                      </a:srgbClr>
                    </a:gs>
                    <a:gs pos="100000">
                      <a:srgbClr val="0D379B">
                        <a:alpha val="100000"/>
                      </a:srgbClr>
                    </a:gs>
                  </a:gsLst>
                  <a:lin ang="0"/>
                </a:gra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026605" y="2319828"/>
            <a:ext cx="3409941" cy="2913949"/>
          </a:xfrm>
          <a:custGeom>
            <a:avLst/>
            <a:gdLst/>
            <a:ahLst/>
            <a:cxnLst/>
            <a:rect r="r" b="b" t="t" l="l"/>
            <a:pathLst>
              <a:path h="2913949" w="3409941">
                <a:moveTo>
                  <a:pt x="0" y="0"/>
                </a:moveTo>
                <a:lnTo>
                  <a:pt x="3409941" y="0"/>
                </a:lnTo>
                <a:lnTo>
                  <a:pt x="3409941" y="2913950"/>
                </a:lnTo>
                <a:lnTo>
                  <a:pt x="0" y="291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85865" y="2403273"/>
            <a:ext cx="4436172" cy="5661009"/>
          </a:xfrm>
          <a:custGeom>
            <a:avLst/>
            <a:gdLst/>
            <a:ahLst/>
            <a:cxnLst/>
            <a:rect r="r" b="b" t="t" l="l"/>
            <a:pathLst>
              <a:path h="5661009" w="4436172">
                <a:moveTo>
                  <a:pt x="0" y="0"/>
                </a:moveTo>
                <a:lnTo>
                  <a:pt x="4436172" y="0"/>
                </a:lnTo>
                <a:lnTo>
                  <a:pt x="4436172" y="5661009"/>
                </a:lnTo>
                <a:lnTo>
                  <a:pt x="0" y="5661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6265" y="3936127"/>
            <a:ext cx="2909315" cy="4969328"/>
          </a:xfrm>
          <a:custGeom>
            <a:avLst/>
            <a:gdLst/>
            <a:ahLst/>
            <a:cxnLst/>
            <a:rect r="r" b="b" t="t" l="l"/>
            <a:pathLst>
              <a:path h="4969328" w="2909315">
                <a:moveTo>
                  <a:pt x="0" y="0"/>
                </a:moveTo>
                <a:lnTo>
                  <a:pt x="2909316" y="0"/>
                </a:lnTo>
                <a:lnTo>
                  <a:pt x="2909316" y="4969328"/>
                </a:lnTo>
                <a:lnTo>
                  <a:pt x="0" y="49693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5544" y="2586702"/>
            <a:ext cx="9161834" cy="140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0"/>
              </a:lnSpc>
            </a:pPr>
            <a:r>
              <a:rPr lang="en-US" sz="8731" spc="-3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5544" y="4448157"/>
            <a:ext cx="7578107" cy="361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463" indent="-367231" lvl="1">
              <a:lnSpc>
                <a:spcPts val="5783"/>
              </a:lnSpc>
              <a:buFont typeface="Arial"/>
              <a:buChar char="•"/>
            </a:pPr>
            <a:r>
              <a:rPr lang="en-US" sz="340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Receive HTTP request</a:t>
            </a:r>
          </a:p>
          <a:p>
            <a:pPr algn="l" marL="734463" indent="-367231" lvl="1">
              <a:lnSpc>
                <a:spcPts val="5783"/>
              </a:lnSpc>
              <a:buFont typeface="Arial"/>
              <a:buChar char="•"/>
            </a:pPr>
            <a:r>
              <a:rPr lang="en-US" sz="340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API Gateway triggers Lambda</a:t>
            </a:r>
          </a:p>
          <a:p>
            <a:pPr algn="l" marL="734463" indent="-367231" lvl="1">
              <a:lnSpc>
                <a:spcPts val="5783"/>
              </a:lnSpc>
              <a:buFont typeface="Arial"/>
              <a:buChar char="•"/>
            </a:pPr>
            <a:r>
              <a:rPr lang="en-US" sz="340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Extract parameters</a:t>
            </a:r>
          </a:p>
          <a:p>
            <a:pPr algn="l" marL="734463" indent="-367231" lvl="1">
              <a:lnSpc>
                <a:spcPts val="5783"/>
              </a:lnSpc>
              <a:buFont typeface="Arial"/>
              <a:buChar char="•"/>
            </a:pPr>
            <a:r>
              <a:rPr lang="en-US" sz="340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Process request</a:t>
            </a:r>
          </a:p>
          <a:p>
            <a:pPr algn="l" marL="734463" indent="-367231" lvl="1">
              <a:lnSpc>
                <a:spcPts val="5783"/>
              </a:lnSpc>
              <a:buFont typeface="Arial"/>
              <a:buChar char="•"/>
            </a:pPr>
            <a:r>
              <a:rPr lang="en-US" sz="3401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Return response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948143" y="2106701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36946" y="3408084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949040" y="5110673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83284" y="5416288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8"/>
                </a:lnTo>
                <a:lnTo>
                  <a:pt x="0" y="3074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66688" y="2469576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1" y="0"/>
                </a:lnTo>
                <a:lnTo>
                  <a:pt x="1799451" y="2618247"/>
                </a:lnTo>
                <a:lnTo>
                  <a:pt x="0" y="2618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31950" y="2402901"/>
            <a:ext cx="10345947" cy="112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4"/>
              </a:lnSpc>
            </a:pPr>
            <a:r>
              <a:rPr lang="en-US" sz="7003" spc="-24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1950" y="3597725"/>
            <a:ext cx="7509833" cy="49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Successfully created serverless application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Dynamic response generated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b="true" sz="3280">
                <a:solidFill>
                  <a:srgbClr val="FFFFFF">
                    <a:alpha val="7176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Output: </a:t>
            </a: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Hello Sania, Serverless working!</a:t>
            </a:r>
          </a:p>
          <a:p>
            <a:pPr algn="l" marL="708155" indent="-354077" lvl="1">
              <a:lnSpc>
                <a:spcPts val="5576"/>
              </a:lnSpc>
              <a:buFont typeface="Arial"/>
              <a:buChar char="•"/>
            </a:pPr>
            <a:r>
              <a:rPr lang="en-US" sz="328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Validates event-driven cloud execution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059641" y="2556873"/>
            <a:ext cx="4074611" cy="3778276"/>
          </a:xfrm>
          <a:custGeom>
            <a:avLst/>
            <a:gdLst/>
            <a:ahLst/>
            <a:cxnLst/>
            <a:rect r="r" b="b" t="t" l="l"/>
            <a:pathLst>
              <a:path h="3778276" w="4074611">
                <a:moveTo>
                  <a:pt x="0" y="0"/>
                </a:moveTo>
                <a:lnTo>
                  <a:pt x="4074611" y="0"/>
                </a:lnTo>
                <a:lnTo>
                  <a:pt x="4074611" y="3778276"/>
                </a:lnTo>
                <a:lnTo>
                  <a:pt x="0" y="377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5660" y="3039406"/>
            <a:ext cx="2615426" cy="3805513"/>
          </a:xfrm>
          <a:custGeom>
            <a:avLst/>
            <a:gdLst/>
            <a:ahLst/>
            <a:cxnLst/>
            <a:rect r="r" b="b" t="t" l="l"/>
            <a:pathLst>
              <a:path h="3805513" w="2615426">
                <a:moveTo>
                  <a:pt x="0" y="0"/>
                </a:moveTo>
                <a:lnTo>
                  <a:pt x="2615426" y="0"/>
                </a:lnTo>
                <a:lnTo>
                  <a:pt x="2615426" y="3805513"/>
                </a:lnTo>
                <a:lnTo>
                  <a:pt x="0" y="38055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77365" y="5304670"/>
            <a:ext cx="4058757" cy="3468393"/>
          </a:xfrm>
          <a:custGeom>
            <a:avLst/>
            <a:gdLst/>
            <a:ahLst/>
            <a:cxnLst/>
            <a:rect r="r" b="b" t="t" l="l"/>
            <a:pathLst>
              <a:path h="3468393" w="4058757">
                <a:moveTo>
                  <a:pt x="0" y="0"/>
                </a:moveTo>
                <a:lnTo>
                  <a:pt x="4058757" y="0"/>
                </a:lnTo>
                <a:lnTo>
                  <a:pt x="4058757" y="3468393"/>
                </a:lnTo>
                <a:lnTo>
                  <a:pt x="0" y="34683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49885" y="2982256"/>
            <a:ext cx="7267862" cy="114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Advantages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284086"/>
            <a:ext cx="7679632" cy="347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 server management</a:t>
            </a:r>
          </a:p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Automatic scaling</a:t>
            </a:r>
          </a:p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Cost efficient</a:t>
            </a:r>
          </a:p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High availability</a:t>
            </a:r>
          </a:p>
          <a:p>
            <a:pPr algn="l" marL="586146" indent="-293073" lvl="1">
              <a:lnSpc>
                <a:spcPts val="4615"/>
              </a:lnSpc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Fast deployment</a:t>
            </a:r>
          </a:p>
          <a:p>
            <a:pPr algn="l" marL="586146" indent="-293073" lvl="1">
              <a:lnSpc>
                <a:spcPts val="4615"/>
              </a:lnSpc>
              <a:spcBef>
                <a:spcPct val="0"/>
              </a:spcBef>
              <a:buFont typeface="Arial"/>
              <a:buChar char="•"/>
            </a:pPr>
            <a:r>
              <a:rPr lang="en-US" sz="2714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Event-driven processing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967030" y="2382211"/>
            <a:ext cx="5508518" cy="6132966"/>
          </a:xfrm>
          <a:custGeom>
            <a:avLst/>
            <a:gdLst/>
            <a:ahLst/>
            <a:cxnLst/>
            <a:rect r="r" b="b" t="t" l="l"/>
            <a:pathLst>
              <a:path h="6132966" w="5508518">
                <a:moveTo>
                  <a:pt x="0" y="0"/>
                </a:moveTo>
                <a:lnTo>
                  <a:pt x="5508518" y="0"/>
                </a:lnTo>
                <a:lnTo>
                  <a:pt x="5508518" y="6132965"/>
                </a:lnTo>
                <a:lnTo>
                  <a:pt x="0" y="6132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67381" y="6737658"/>
            <a:ext cx="2151017" cy="2115818"/>
          </a:xfrm>
          <a:custGeom>
            <a:avLst/>
            <a:gdLst/>
            <a:ahLst/>
            <a:cxnLst/>
            <a:rect r="r" b="b" t="t" l="l"/>
            <a:pathLst>
              <a:path h="2115818" w="2151017">
                <a:moveTo>
                  <a:pt x="0" y="0"/>
                </a:moveTo>
                <a:lnTo>
                  <a:pt x="2151017" y="0"/>
                </a:lnTo>
                <a:lnTo>
                  <a:pt x="2151017" y="2115819"/>
                </a:lnTo>
                <a:lnTo>
                  <a:pt x="0" y="21158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89590" y="2201236"/>
            <a:ext cx="7877440" cy="207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Challenges Faced</a:t>
            </a:r>
          </a:p>
          <a:p>
            <a:pPr algn="ctr">
              <a:lnSpc>
                <a:spcPts val="686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71738" y="3693478"/>
            <a:ext cx="6672262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AWS billing verification issues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integration problems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Deployment errors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Endpoint configuration issues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310346" y="1776366"/>
            <a:ext cx="3306692" cy="4915353"/>
          </a:xfrm>
          <a:custGeom>
            <a:avLst/>
            <a:gdLst/>
            <a:ahLst/>
            <a:cxnLst/>
            <a:rect r="r" b="b" t="t" l="l"/>
            <a:pathLst>
              <a:path h="4915353" w="3306692">
                <a:moveTo>
                  <a:pt x="0" y="0"/>
                </a:moveTo>
                <a:lnTo>
                  <a:pt x="3306692" y="0"/>
                </a:lnTo>
                <a:lnTo>
                  <a:pt x="3306692" y="4915353"/>
                </a:lnTo>
                <a:lnTo>
                  <a:pt x="0" y="4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48749" y="4269958"/>
            <a:ext cx="2763113" cy="4719604"/>
          </a:xfrm>
          <a:custGeom>
            <a:avLst/>
            <a:gdLst/>
            <a:ahLst/>
            <a:cxnLst/>
            <a:rect r="r" b="b" t="t" l="l"/>
            <a:pathLst>
              <a:path h="4719604" w="2763113">
                <a:moveTo>
                  <a:pt x="0" y="0"/>
                </a:moveTo>
                <a:lnTo>
                  <a:pt x="2763113" y="0"/>
                </a:lnTo>
                <a:lnTo>
                  <a:pt x="2763113" y="4719604"/>
                </a:lnTo>
                <a:lnTo>
                  <a:pt x="0" y="4719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40102" y="3756628"/>
            <a:ext cx="3508802" cy="4114800"/>
          </a:xfrm>
          <a:custGeom>
            <a:avLst/>
            <a:gdLst/>
            <a:ahLst/>
            <a:cxnLst/>
            <a:rect r="r" b="b" t="t" l="l"/>
            <a:pathLst>
              <a:path h="4114800" w="3508802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80996" y="2113777"/>
            <a:ext cx="4070548" cy="2120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</a:t>
            </a:r>
          </a:p>
          <a:p>
            <a:pPr algn="ctr">
              <a:lnSpc>
                <a:spcPts val="99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180996" y="3238887"/>
            <a:ext cx="4831887" cy="418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 APIs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Chatbots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Automation scripts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processing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IoT systems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Event-driven apps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63498" y="3107880"/>
            <a:ext cx="3652970" cy="2120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</a:t>
            </a:r>
          </a:p>
          <a:p>
            <a:pPr algn="ctr">
              <a:lnSpc>
                <a:spcPts val="993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198512" y="2647513"/>
            <a:ext cx="4436172" cy="5661009"/>
          </a:xfrm>
          <a:custGeom>
            <a:avLst/>
            <a:gdLst/>
            <a:ahLst/>
            <a:cxnLst/>
            <a:rect r="r" b="b" t="t" l="l"/>
            <a:pathLst>
              <a:path h="5661009" w="4436172">
                <a:moveTo>
                  <a:pt x="0" y="0"/>
                </a:moveTo>
                <a:lnTo>
                  <a:pt x="4436172" y="0"/>
                </a:lnTo>
                <a:lnTo>
                  <a:pt x="4436172" y="5661009"/>
                </a:lnTo>
                <a:lnTo>
                  <a:pt x="0" y="566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6946" y="4129913"/>
            <a:ext cx="5281150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Cold start delays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Timeout limits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Vendor lock-in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Debugging complexity</a:t>
            </a:r>
          </a:p>
          <a:p>
            <a:pPr algn="just">
              <a:lnSpc>
                <a:spcPts val="448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499445" y="2291285"/>
            <a:ext cx="2912417" cy="2488793"/>
          </a:xfrm>
          <a:custGeom>
            <a:avLst/>
            <a:gdLst/>
            <a:ahLst/>
            <a:cxnLst/>
            <a:rect r="r" b="b" t="t" l="l"/>
            <a:pathLst>
              <a:path h="2488793" w="2912417">
                <a:moveTo>
                  <a:pt x="0" y="0"/>
                </a:moveTo>
                <a:lnTo>
                  <a:pt x="2912417" y="0"/>
                </a:lnTo>
                <a:lnTo>
                  <a:pt x="2912417" y="2488793"/>
                </a:lnTo>
                <a:lnTo>
                  <a:pt x="0" y="2488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22037" y="4560790"/>
            <a:ext cx="2557438" cy="4368295"/>
          </a:xfrm>
          <a:custGeom>
            <a:avLst/>
            <a:gdLst/>
            <a:ahLst/>
            <a:cxnLst/>
            <a:rect r="r" b="b" t="t" l="l"/>
            <a:pathLst>
              <a:path h="4368295" w="2557438">
                <a:moveTo>
                  <a:pt x="0" y="0"/>
                </a:moveTo>
                <a:lnTo>
                  <a:pt x="2557439" y="0"/>
                </a:lnTo>
                <a:lnTo>
                  <a:pt x="2557439" y="4368295"/>
                </a:lnTo>
                <a:lnTo>
                  <a:pt x="0" y="43682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44659" y="5143500"/>
            <a:ext cx="4058757" cy="3468393"/>
          </a:xfrm>
          <a:custGeom>
            <a:avLst/>
            <a:gdLst/>
            <a:ahLst/>
            <a:cxnLst/>
            <a:rect r="r" b="b" t="t" l="l"/>
            <a:pathLst>
              <a:path h="3468393" w="4058757">
                <a:moveTo>
                  <a:pt x="0" y="0"/>
                </a:moveTo>
                <a:lnTo>
                  <a:pt x="4058757" y="0"/>
                </a:lnTo>
                <a:lnTo>
                  <a:pt x="4058757" y="3468393"/>
                </a:lnTo>
                <a:lnTo>
                  <a:pt x="0" y="3468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64932" y="2091698"/>
            <a:ext cx="3773617" cy="3499172"/>
          </a:xfrm>
          <a:custGeom>
            <a:avLst/>
            <a:gdLst/>
            <a:ahLst/>
            <a:cxnLst/>
            <a:rect r="r" b="b" t="t" l="l"/>
            <a:pathLst>
              <a:path h="3499172" w="3773617">
                <a:moveTo>
                  <a:pt x="0" y="0"/>
                </a:moveTo>
                <a:lnTo>
                  <a:pt x="3773616" y="0"/>
                </a:lnTo>
                <a:lnTo>
                  <a:pt x="3773616" y="3499172"/>
                </a:lnTo>
                <a:lnTo>
                  <a:pt x="0" y="3499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9233" y="3688114"/>
            <a:ext cx="2615426" cy="3805513"/>
          </a:xfrm>
          <a:custGeom>
            <a:avLst/>
            <a:gdLst/>
            <a:ahLst/>
            <a:cxnLst/>
            <a:rect r="r" b="b" t="t" l="l"/>
            <a:pathLst>
              <a:path h="3805513" w="2615426">
                <a:moveTo>
                  <a:pt x="0" y="0"/>
                </a:moveTo>
                <a:lnTo>
                  <a:pt x="2615426" y="0"/>
                </a:lnTo>
                <a:lnTo>
                  <a:pt x="2615426" y="3805513"/>
                </a:lnTo>
                <a:lnTo>
                  <a:pt x="0" y="38055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439943" y="1624363"/>
            <a:ext cx="8618472" cy="193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9"/>
              </a:lnSpc>
            </a:pPr>
            <a:r>
              <a:rPr lang="en-US" sz="587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Future Enhancements</a:t>
            </a:r>
          </a:p>
          <a:p>
            <a:pPr algn="ctr">
              <a:lnSpc>
                <a:spcPts val="679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396056" y="2975306"/>
            <a:ext cx="6055717" cy="337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integration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Authentication system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File handling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PDF generation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Full-scale web application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35544" y="5143500"/>
            <a:ext cx="2036403" cy="3303898"/>
          </a:xfrm>
          <a:custGeom>
            <a:avLst/>
            <a:gdLst/>
            <a:ahLst/>
            <a:cxnLst/>
            <a:rect r="r" b="b" t="t" l="l"/>
            <a:pathLst>
              <a:path h="3303898" w="2036403">
                <a:moveTo>
                  <a:pt x="0" y="0"/>
                </a:moveTo>
                <a:lnTo>
                  <a:pt x="2036403" y="0"/>
                </a:lnTo>
                <a:lnTo>
                  <a:pt x="2036403" y="3303898"/>
                </a:lnTo>
                <a:lnTo>
                  <a:pt x="0" y="3303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80661" y="1749494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3" y="0"/>
                </a:lnTo>
                <a:lnTo>
                  <a:pt x="2624513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92918" y="5143500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34250" y="1530419"/>
            <a:ext cx="5453062" cy="264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44"/>
              </a:lnSpc>
            </a:pPr>
            <a:r>
              <a:rPr lang="en-US" sz="738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  <a:p>
            <a:pPr algn="ctr">
              <a:lnSpc>
                <a:spcPts val="1034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674126" y="2874087"/>
            <a:ext cx="10039681" cy="393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Successfully implemented serverless system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Achieved:</a:t>
            </a:r>
          </a:p>
          <a:p>
            <a:pPr algn="just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Scalable architecture</a:t>
            </a:r>
          </a:p>
          <a:p>
            <a:pPr algn="just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 cost solution</a:t>
            </a:r>
          </a:p>
          <a:p>
            <a:pPr algn="just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Event-driven execution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Gained practical cloud computing experience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967030" y="1946428"/>
            <a:ext cx="5279334" cy="5877801"/>
          </a:xfrm>
          <a:custGeom>
            <a:avLst/>
            <a:gdLst/>
            <a:ahLst/>
            <a:cxnLst/>
            <a:rect r="r" b="b" t="t" l="l"/>
            <a:pathLst>
              <a:path h="5877801" w="5279334">
                <a:moveTo>
                  <a:pt x="0" y="0"/>
                </a:moveTo>
                <a:lnTo>
                  <a:pt x="5279334" y="0"/>
                </a:lnTo>
                <a:lnTo>
                  <a:pt x="5279334" y="5877800"/>
                </a:lnTo>
                <a:lnTo>
                  <a:pt x="0" y="587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67381" y="6384559"/>
            <a:ext cx="2509990" cy="2468918"/>
          </a:xfrm>
          <a:custGeom>
            <a:avLst/>
            <a:gdLst/>
            <a:ahLst/>
            <a:cxnLst/>
            <a:rect r="r" b="b" t="t" l="l"/>
            <a:pathLst>
              <a:path h="2468918" w="2509990">
                <a:moveTo>
                  <a:pt x="0" y="0"/>
                </a:moveTo>
                <a:lnTo>
                  <a:pt x="2509990" y="0"/>
                </a:lnTo>
                <a:lnTo>
                  <a:pt x="2509990" y="2468918"/>
                </a:lnTo>
                <a:lnTo>
                  <a:pt x="0" y="2468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07704" y="2824743"/>
            <a:ext cx="2226367" cy="2498984"/>
          </a:xfrm>
          <a:custGeom>
            <a:avLst/>
            <a:gdLst/>
            <a:ahLst/>
            <a:cxnLst/>
            <a:rect r="r" b="b" t="t" l="l"/>
            <a:pathLst>
              <a:path h="2498984" w="2226367">
                <a:moveTo>
                  <a:pt x="0" y="0"/>
                </a:moveTo>
                <a:lnTo>
                  <a:pt x="2226367" y="0"/>
                </a:lnTo>
                <a:lnTo>
                  <a:pt x="2226367" y="2498984"/>
                </a:lnTo>
                <a:lnTo>
                  <a:pt x="0" y="2498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50949" y="1937648"/>
            <a:ext cx="3820385" cy="219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  <a:p>
            <a:pPr algn="ctr">
              <a:lnSpc>
                <a:spcPts val="1021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26059" y="2950791"/>
            <a:ext cx="7365759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AWS Lambda Documentation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Gateway Documentation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AWS Free Tier Documentation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25707"/>
            <a:ext cx="16230600" cy="348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7"/>
              </a:lnSpc>
            </a:pPr>
            <a:r>
              <a:rPr lang="en-US" b="true" sz="21737" spc="-7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990796" y="9258300"/>
            <a:ext cx="19278796" cy="1987207"/>
            <a:chOff x="0" y="0"/>
            <a:chExt cx="5077543" cy="523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543" cy="523380"/>
            </a:xfrm>
            <a:custGeom>
              <a:avLst/>
              <a:gdLst/>
              <a:ahLst/>
              <a:cxnLst/>
              <a:rect r="r" b="b" t="t" l="l"/>
              <a:pathLst>
                <a:path h="523380" w="5077543">
                  <a:moveTo>
                    <a:pt x="40158" y="0"/>
                  </a:moveTo>
                  <a:lnTo>
                    <a:pt x="5037385" y="0"/>
                  </a:lnTo>
                  <a:cubicBezTo>
                    <a:pt x="5059564" y="0"/>
                    <a:pt x="5077543" y="17979"/>
                    <a:pt x="5077543" y="40158"/>
                  </a:cubicBezTo>
                  <a:lnTo>
                    <a:pt x="5077543" y="483222"/>
                  </a:lnTo>
                  <a:cubicBezTo>
                    <a:pt x="5077543" y="505400"/>
                    <a:pt x="5059564" y="523380"/>
                    <a:pt x="5037385" y="523380"/>
                  </a:cubicBezTo>
                  <a:lnTo>
                    <a:pt x="40158" y="523380"/>
                  </a:lnTo>
                  <a:cubicBezTo>
                    <a:pt x="17979" y="523380"/>
                    <a:pt x="0" y="505400"/>
                    <a:pt x="0" y="483222"/>
                  </a:cubicBezTo>
                  <a:lnTo>
                    <a:pt x="0" y="40158"/>
                  </a:lnTo>
                  <a:cubicBezTo>
                    <a:pt x="0" y="17979"/>
                    <a:pt x="17979" y="0"/>
                    <a:pt x="401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077543" cy="58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DAHH64OANr0</dc:identifier>
  <dcterms:modified xsi:type="dcterms:W3CDTF">2011-08-01T06:04:30Z</dcterms:modified>
  <cp:revision>1</cp:revision>
  <dc:title>Parallel and distributed computing </dc:title>
</cp:coreProperties>
</file>